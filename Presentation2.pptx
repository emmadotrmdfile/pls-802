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3482"/>
    <a:srgbClr val="FFA0FF"/>
    <a:srgbClr val="83187C"/>
    <a:srgbClr val="9F0076"/>
    <a:srgbClr val="009193"/>
    <a:srgbClr val="FFFD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5732"/>
  </p:normalViewPr>
  <p:slideViewPr>
    <p:cSldViewPr snapToGrid="0">
      <p:cViewPr>
        <p:scale>
          <a:sx n="126" d="100"/>
          <a:sy n="126" d="100"/>
        </p:scale>
        <p:origin x="240" y="-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D4A26B-2C76-EA47-8092-68C02FDE718A}" type="datetimeFigureOut">
              <a:rPr lang="en-US" smtClean="0"/>
              <a:t>4/21/24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4FF4AD-E4C0-2640-87BA-0A4565646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466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FF4AD-E4C0-2640-87BA-0A456564619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089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77B8B-E9ED-144C-1183-FC09C435EB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2E308-A83C-A6C6-DCD1-AEF635519A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43181-2983-67BF-BD23-BE9B364F0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48A5-B830-B24C-AED2-DD5A2DB5F08F}" type="datetimeFigureOut">
              <a:rPr lang="en-US" smtClean="0"/>
              <a:t>4/14/24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64DCF-2C22-269C-F94E-22C0270D3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52BE7-43E8-30F7-329D-B3175FCDE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93D11-DF24-704B-BB3F-8984EA34E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848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87291-D30D-C661-3C13-12DA10923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896B4-C9EF-4A48-5CAF-13595DF13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6B422-6EC8-1DB5-903D-0DF965627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48A5-B830-B24C-AED2-DD5A2DB5F08F}" type="datetimeFigureOut">
              <a:rPr lang="en-US" smtClean="0"/>
              <a:t>4/14/24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FB0DC-B013-3B5C-4F8C-047531228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5F8CA-3009-2EAD-A50F-26F49B859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93D11-DF24-704B-BB3F-8984EA34E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021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A1D1B-2048-32E7-2880-9F1AD64E4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3EB0A-5699-ADC7-D154-0AADD781E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F1F31-B398-D9EB-BAC7-0A8D854DE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48A5-B830-B24C-AED2-DD5A2DB5F08F}" type="datetimeFigureOut">
              <a:rPr lang="en-US" smtClean="0"/>
              <a:t>4/14/24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FC904-83F7-3C8C-2722-7A64A67D4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5A8A5-4DEB-9BFA-57F2-9FE740E3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93D11-DF24-704B-BB3F-8984EA34E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918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3C9B7-4B38-3845-7C37-B553692E3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3D901-1340-2957-E342-78245507F4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B75C00-89E0-F27E-E331-28E2DE7C4D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BCD516-99AF-FE51-D45F-680734423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48A5-B830-B24C-AED2-DD5A2DB5F08F}" type="datetimeFigureOut">
              <a:rPr lang="en-US" smtClean="0"/>
              <a:t>4/14/24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F5AFB1-1F53-8FCA-BDC8-A70FF4C68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FF9F82-6289-2EB0-1DA4-9CADC36C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93D11-DF24-704B-BB3F-8984EA34E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126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DABB2-4E98-059D-515E-E39ED6166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B48BA9-AE57-1A7B-7046-56B936D58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A2C64-252F-400A-BEDC-7D6A161B1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015A61-82AE-8810-2DCF-1BB27BFDE2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845DE6-FE07-97F3-D31B-BD6DB830BA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0B4829-A4FD-311F-C387-68EE2151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48A5-B830-B24C-AED2-DD5A2DB5F08F}" type="datetimeFigureOut">
              <a:rPr lang="en-US" smtClean="0"/>
              <a:t>4/14/24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ECB2D-B2FE-FCC2-0734-1BEC8493A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74F15D-5321-0B76-4E97-0F8C03457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93D11-DF24-704B-BB3F-8984EA34E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652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73073-ECBE-CAE9-CD11-76EFEF275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2348B3-07A3-8A9F-8294-3DBB0DC96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48A5-B830-B24C-AED2-DD5A2DB5F08F}" type="datetimeFigureOut">
              <a:rPr lang="en-US" smtClean="0"/>
              <a:t>4/14/24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F3489B-711D-9F97-C050-77B85ED28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D15299-402D-79C9-7204-EBC5239E6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93D11-DF24-704B-BB3F-8984EA34E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67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C60C95-4315-C567-1EAA-4B8A39C34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48A5-B830-B24C-AED2-DD5A2DB5F08F}" type="datetimeFigureOut">
              <a:rPr lang="en-US" smtClean="0"/>
              <a:t>4/14/24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E1694D-CA4E-4C72-0439-87DCB3ED1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CD2EF-836C-3329-B2B2-AA428D399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93D11-DF24-704B-BB3F-8984EA34E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96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128B3-AF36-B053-073E-114C27AF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DE1E9-EC64-6A06-6B01-D28ECD748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92F69E-ADDC-7A22-502E-2CAAC2AB51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F7BEA9-3B31-229A-D550-23827332F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48A5-B830-B24C-AED2-DD5A2DB5F08F}" type="datetimeFigureOut">
              <a:rPr lang="en-US" smtClean="0"/>
              <a:t>4/14/24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A44CC1-F75E-963B-53FE-C23B9DA02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744553-D6EF-D390-D03A-16B607621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93D11-DF24-704B-BB3F-8984EA34E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283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02A55-DE1E-6752-87CB-681052E70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EB0083-47DB-0D88-407A-8901C94410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D9273F-8268-2567-6A98-EC461CDEBB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3737E7-9C1C-3824-30F5-611E94643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48A5-B830-B24C-AED2-DD5A2DB5F08F}" type="datetimeFigureOut">
              <a:rPr lang="en-US" smtClean="0"/>
              <a:t>4/14/24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0D00BC-4F60-3149-29AC-8B8853521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0B54F-03F5-27DE-BFE6-D1BD02073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93D11-DF24-704B-BB3F-8984EA34E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112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7C4D8-CE2A-6B56-3051-4AD9005CA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96218D-74E2-F870-3D20-D8F8E7AB71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4BA77-4458-5F60-0D5D-766B6CBED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48A5-B830-B24C-AED2-DD5A2DB5F08F}" type="datetimeFigureOut">
              <a:rPr lang="en-US" smtClean="0"/>
              <a:t>4/14/24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A2D0E-3A86-B08A-2AF2-EACB1B3C1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72179-B2CB-2DC7-FFD9-86B4F3D6F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93D11-DF24-704B-BB3F-8984EA34E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36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7E8E57-BAF8-86BF-643C-39ECF5F52C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1D39AE-2CA5-EB61-5E71-0484FE908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45224-EFE8-46F2-8800-7AE6E60FA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48A5-B830-B24C-AED2-DD5A2DB5F08F}" type="datetimeFigureOut">
              <a:rPr lang="en-US" smtClean="0"/>
              <a:t>4/14/24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16BD9-E6E2-603C-9518-102B5CDA1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7025F-2A0D-EC19-41A5-594C1170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93D11-DF24-704B-BB3F-8984EA34E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482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1683C6-5C85-2F18-C913-42B68A476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A26A8-E4B3-31DE-8078-800FE9445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15A81-1972-DAA9-4D02-C9AD375F17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A348A5-B830-B24C-AED2-DD5A2DB5F08F}" type="datetimeFigureOut">
              <a:rPr lang="en-US" smtClean="0"/>
              <a:t>4/14/24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69857-3196-8220-0114-0B8344FEA3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CDE3E-D8AB-F891-F857-B2CA85178B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493D11-DF24-704B-BB3F-8984EA34E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734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5B9A9C25-2718-8DDC-CB68-31B028BB18F2}"/>
              </a:ext>
            </a:extLst>
          </p:cNvPr>
          <p:cNvSpPr/>
          <p:nvPr/>
        </p:nvSpPr>
        <p:spPr>
          <a:xfrm>
            <a:off x="8390788" y="1553034"/>
            <a:ext cx="3651558" cy="3131211"/>
          </a:xfrm>
          <a:prstGeom prst="rect">
            <a:avLst/>
          </a:prstGeom>
          <a:solidFill>
            <a:srgbClr val="FFFD78">
              <a:alpha val="25882"/>
            </a:srgb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itchFamily="2" charset="2"/>
              <a:buChar char="v"/>
            </a:pPr>
            <a:endParaRPr lang="en-US" dirty="0"/>
          </a:p>
          <a:p>
            <a:pPr marL="285750" indent="-285750" algn="ctr">
              <a:buFont typeface="Wingdings" pitchFamily="2" charset="2"/>
              <a:buChar char="v"/>
            </a:pPr>
            <a:endParaRPr lang="en-US" dirty="0"/>
          </a:p>
          <a:p>
            <a:pPr marL="285750" indent="-285750" algn="ctr">
              <a:buFont typeface="Wingdings" pitchFamily="2" charset="2"/>
              <a:buChar char="v"/>
            </a:pPr>
            <a:endParaRPr lang="en-US" dirty="0"/>
          </a:p>
          <a:p>
            <a:pPr marL="285750" indent="-285750" algn="ctr">
              <a:buFont typeface="Wingdings" pitchFamily="2" charset="2"/>
              <a:buChar char="v"/>
            </a:pPr>
            <a:endParaRPr lang="en-US" dirty="0"/>
          </a:p>
          <a:p>
            <a:pPr marL="285750" indent="-285750" algn="ctr">
              <a:buFont typeface="Wingdings" pitchFamily="2" charset="2"/>
              <a:buChar char="v"/>
            </a:pPr>
            <a:endParaRPr lang="en-US" dirty="0"/>
          </a:p>
          <a:p>
            <a:pPr marL="285750" indent="-285750" algn="ctr">
              <a:buFont typeface="Wingdings" pitchFamily="2" charset="2"/>
              <a:buChar char="v"/>
            </a:pPr>
            <a:endParaRPr lang="en-US" dirty="0"/>
          </a:p>
          <a:p>
            <a:pPr marL="285750" indent="-285750" algn="ctr">
              <a:buFont typeface="Wingdings" pitchFamily="2" charset="2"/>
              <a:buChar char="v"/>
            </a:pP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D4C43E-0673-7EFE-248F-E631366D30E0}"/>
              </a:ext>
            </a:extLst>
          </p:cNvPr>
          <p:cNvSpPr/>
          <p:nvPr/>
        </p:nvSpPr>
        <p:spPr>
          <a:xfrm>
            <a:off x="-116379" y="-21409"/>
            <a:ext cx="12568843" cy="121390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3F9265-954D-4E9E-A3BD-B4D937D3B097}"/>
              </a:ext>
            </a:extLst>
          </p:cNvPr>
          <p:cNvSpPr txBox="1"/>
          <p:nvPr/>
        </p:nvSpPr>
        <p:spPr>
          <a:xfrm>
            <a:off x="1488281" y="83011"/>
            <a:ext cx="92154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The Global Status of Transgender Rights: Does a Proportionate Number of Women in National Parliaments Have an Impact?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7B641D-F06B-019D-B15B-BD2322008094}"/>
              </a:ext>
            </a:extLst>
          </p:cNvPr>
          <p:cNvSpPr txBox="1"/>
          <p:nvPr/>
        </p:nvSpPr>
        <p:spPr>
          <a:xfrm>
            <a:off x="4069897" y="892699"/>
            <a:ext cx="405220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Department of Political Science, Michigan State University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A427E2-9E4A-6B6B-101F-63A0C849BD80}"/>
              </a:ext>
            </a:extLst>
          </p:cNvPr>
          <p:cNvSpPr txBox="1"/>
          <p:nvPr/>
        </p:nvSpPr>
        <p:spPr>
          <a:xfrm>
            <a:off x="5368261" y="617510"/>
            <a:ext cx="14554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Emma Huizenga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1671A3-937E-1362-1008-245D1AE8E479}"/>
              </a:ext>
            </a:extLst>
          </p:cNvPr>
          <p:cNvSpPr txBox="1"/>
          <p:nvPr/>
        </p:nvSpPr>
        <p:spPr>
          <a:xfrm>
            <a:off x="4561139" y="1265634"/>
            <a:ext cx="3114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+mj-lt"/>
              </a:rPr>
              <a:t>Overview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8D35DB-1E78-70D5-2A30-68B218943F62}"/>
              </a:ext>
            </a:extLst>
          </p:cNvPr>
          <p:cNvSpPr txBox="1"/>
          <p:nvPr/>
        </p:nvSpPr>
        <p:spPr>
          <a:xfrm>
            <a:off x="763067" y="1289709"/>
            <a:ext cx="2200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+mj-lt"/>
              </a:rPr>
              <a:t>Methods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F2152D-C5AB-C5DB-52D0-5990EA6074C0}"/>
              </a:ext>
            </a:extLst>
          </p:cNvPr>
          <p:cNvSpPr txBox="1"/>
          <p:nvPr/>
        </p:nvSpPr>
        <p:spPr>
          <a:xfrm>
            <a:off x="9837705" y="1284759"/>
            <a:ext cx="6813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+mj-lt"/>
              </a:rPr>
              <a:t>Results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B69722-C43D-15B1-6AF9-FEE33DD042B3}"/>
              </a:ext>
            </a:extLst>
          </p:cNvPr>
          <p:cNvSpPr txBox="1"/>
          <p:nvPr/>
        </p:nvSpPr>
        <p:spPr>
          <a:xfrm>
            <a:off x="3938613" y="1505924"/>
            <a:ext cx="435972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Transgender rights is a marginally studied topic, especially when it comes to understanding the global landscape of such individuals. Previous research pertaining to transgender rights only provides a glimpse of the experiences and challenges encountered by transgender individuals and is often confined to qualitative contexts.</a:t>
            </a:r>
          </a:p>
          <a:p>
            <a:endParaRPr lang="en-US" sz="1000" dirty="0"/>
          </a:p>
          <a:p>
            <a:r>
              <a:rPr lang="en-US" sz="1000" dirty="0"/>
              <a:t>Therefore, this study aims to identify a possible correlate to the global status of transgender rights: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1000" dirty="0"/>
              <a:t>Does a proportionate number of women in national parliaments make a difference in the extent to which countries protect the rights of transgender people?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CB6DF4-8A09-1E47-A444-CF58F7FB6B2F}"/>
              </a:ext>
            </a:extLst>
          </p:cNvPr>
          <p:cNvSpPr txBox="1"/>
          <p:nvPr/>
        </p:nvSpPr>
        <p:spPr>
          <a:xfrm>
            <a:off x="5844255" y="3242098"/>
            <a:ext cx="5001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+mj-lt"/>
              </a:rPr>
              <a:t>Data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4D90A9-BF06-DC5E-B2BD-A467A53AD7A0}"/>
              </a:ext>
            </a:extLst>
          </p:cNvPr>
          <p:cNvSpPr txBox="1"/>
          <p:nvPr/>
        </p:nvSpPr>
        <p:spPr>
          <a:xfrm>
            <a:off x="6400800" y="44862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7BFA94-F04C-76FF-A749-34B5886ED7B5}"/>
              </a:ext>
            </a:extLst>
          </p:cNvPr>
          <p:cNvSpPr txBox="1"/>
          <p:nvPr/>
        </p:nvSpPr>
        <p:spPr>
          <a:xfrm>
            <a:off x="3890350" y="3476137"/>
            <a:ext cx="440799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000" b="1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pPr marL="171450" indent="-171450">
              <a:buFont typeface="Wingdings" pitchFamily="2" charset="2"/>
              <a:buChar char="v"/>
            </a:pPr>
            <a:endParaRPr lang="en-US" sz="1000" dirty="0"/>
          </a:p>
          <a:p>
            <a:pPr marL="171450" indent="-171450">
              <a:buFont typeface="Wingdings" pitchFamily="2" charset="2"/>
              <a:buChar char="v"/>
            </a:pPr>
            <a:endParaRPr lang="en-US" sz="1000" dirty="0"/>
          </a:p>
          <a:p>
            <a:pPr marL="171450" indent="-171450">
              <a:buFont typeface="Wingdings" pitchFamily="2" charset="2"/>
              <a:buChar char="v"/>
            </a:pPr>
            <a:endParaRPr lang="en-US" sz="1000" dirty="0"/>
          </a:p>
          <a:p>
            <a:pPr marL="171450" indent="-171450">
              <a:buFont typeface="Wingdings" pitchFamily="2" charset="2"/>
              <a:buChar char="v"/>
            </a:pPr>
            <a:r>
              <a:rPr lang="en-US" sz="1000" dirty="0"/>
              <a:t>The percentage of women in national parliaments is the </a:t>
            </a:r>
            <a:r>
              <a:rPr lang="en-US" sz="1000" b="1" dirty="0"/>
              <a:t>treatment</a:t>
            </a:r>
            <a:r>
              <a:rPr lang="en-US" sz="1000" dirty="0"/>
              <a:t> variable (World Bank)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1000" dirty="0"/>
              <a:t>The global status of transgender rights serves as the </a:t>
            </a:r>
            <a:r>
              <a:rPr lang="en-US" sz="1000" b="1" dirty="0"/>
              <a:t>outcome</a:t>
            </a:r>
            <a:r>
              <a:rPr lang="en-US" sz="1000" dirty="0"/>
              <a:t> variable (</a:t>
            </a:r>
            <a:r>
              <a:rPr lang="en-US" sz="1000" i="1" dirty="0"/>
              <a:t>“Trans Rights Indicator Project</a:t>
            </a:r>
            <a:r>
              <a:rPr lang="en-US" sz="1000" dirty="0"/>
              <a:t>”, TRIP) 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1000" dirty="0"/>
              <a:t>GDP per capita, religiosity percent, democracy measures, &amp; year are </a:t>
            </a:r>
            <a:r>
              <a:rPr lang="en-US" sz="1000" b="1" dirty="0"/>
              <a:t>the observed confounders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A234119-E7CD-7911-DBE2-F929C7FAEA1C}"/>
              </a:ext>
            </a:extLst>
          </p:cNvPr>
          <p:cNvCxnSpPr>
            <a:cxnSpLocks/>
          </p:cNvCxnSpPr>
          <p:nvPr/>
        </p:nvCxnSpPr>
        <p:spPr>
          <a:xfrm flipH="1">
            <a:off x="5169348" y="4054542"/>
            <a:ext cx="417249" cy="616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6B96273-DF8D-3BD7-536B-211C043C97D9}"/>
              </a:ext>
            </a:extLst>
          </p:cNvPr>
          <p:cNvCxnSpPr>
            <a:cxnSpLocks/>
          </p:cNvCxnSpPr>
          <p:nvPr/>
        </p:nvCxnSpPr>
        <p:spPr>
          <a:xfrm>
            <a:off x="5651422" y="4854718"/>
            <a:ext cx="8858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18218BA-A41D-2CD4-CA2A-DF0C3F729465}"/>
              </a:ext>
            </a:extLst>
          </p:cNvPr>
          <p:cNvSpPr txBox="1"/>
          <p:nvPr/>
        </p:nvSpPr>
        <p:spPr>
          <a:xfrm>
            <a:off x="1338797" y="2923365"/>
            <a:ext cx="104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+mj-lt"/>
              </a:rPr>
              <a:t>Assumptions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F7B7DF2-BBB9-9349-6001-AFE3339F8F01}"/>
              </a:ext>
            </a:extLst>
          </p:cNvPr>
          <p:cNvSpPr txBox="1"/>
          <p:nvPr/>
        </p:nvSpPr>
        <p:spPr>
          <a:xfrm>
            <a:off x="118050" y="3110727"/>
            <a:ext cx="368624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Conditional ignorability 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1000" dirty="0"/>
              <a:t>After weighting, I regressed treatment on observed confounders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1000" dirty="0"/>
              <a:t>The p-values for each confounder were large and insignificant, indicating that they were not affecting treatment status after weighting </a:t>
            </a:r>
            <a:endParaRPr lang="en-US" sz="1000" dirty="0">
              <a:highlight>
                <a:srgbClr val="FFFF00"/>
              </a:highlight>
            </a:endParaRPr>
          </a:p>
          <a:p>
            <a:r>
              <a:rPr lang="en-US" sz="1000" b="1" dirty="0"/>
              <a:t>Common support (positivity)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1000" dirty="0"/>
              <a:t>Religiosity does violate common support, but no other confounders did</a:t>
            </a:r>
          </a:p>
          <a:p>
            <a:endParaRPr lang="en-US" sz="10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2871681-D322-DBAF-8307-50F16EFFC46A}"/>
              </a:ext>
            </a:extLst>
          </p:cNvPr>
          <p:cNvSpPr txBox="1"/>
          <p:nvPr/>
        </p:nvSpPr>
        <p:spPr>
          <a:xfrm>
            <a:off x="9713343" y="4673498"/>
            <a:ext cx="9300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+mj-lt"/>
              </a:rPr>
              <a:t>Conclusion</a:t>
            </a:r>
          </a:p>
        </p:txBody>
      </p:sp>
      <p:sp>
        <p:nvSpPr>
          <p:cNvPr id="48" name="Content Placeholder 4">
            <a:extLst>
              <a:ext uri="{FF2B5EF4-FFF2-40B4-BE49-F238E27FC236}">
                <a16:creationId xmlns:a16="http://schemas.microsoft.com/office/drawing/2014/main" id="{FF23D189-39ED-B0CD-6ECF-28D440B24BAA}"/>
              </a:ext>
            </a:extLst>
          </p:cNvPr>
          <p:cNvSpPr txBox="1">
            <a:spLocks/>
          </p:cNvSpPr>
          <p:nvPr/>
        </p:nvSpPr>
        <p:spPr>
          <a:xfrm>
            <a:off x="98368" y="1505924"/>
            <a:ext cx="3725610" cy="147822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1450" indent="-171450" algn="l">
              <a:buFont typeface="Wingdings" pitchFamily="2" charset="2"/>
              <a:buChar char="v"/>
            </a:pPr>
            <a:r>
              <a:rPr lang="en-US" sz="1000" dirty="0">
                <a:latin typeface="+mn-lt"/>
              </a:rPr>
              <a:t>Given that my confounding variables were observed and influencing both treatment and outcome, I decided to use </a:t>
            </a:r>
            <a:r>
              <a:rPr lang="en-US" sz="1000" b="1" dirty="0">
                <a:latin typeface="+mn-lt"/>
              </a:rPr>
              <a:t>weighting </a:t>
            </a:r>
            <a:r>
              <a:rPr lang="en-US" sz="1000" dirty="0">
                <a:latin typeface="+mn-lt"/>
              </a:rPr>
              <a:t>to balance the covariates between the treated and control groups so that they would be independent of potential outcomes</a:t>
            </a:r>
          </a:p>
          <a:p>
            <a:pPr marL="171450" indent="-171450" algn="l">
              <a:buFont typeface="Wingdings" pitchFamily="2" charset="2"/>
              <a:buChar char="v"/>
            </a:pPr>
            <a:r>
              <a:rPr lang="en-US" sz="1000" dirty="0">
                <a:latin typeface="+mn-lt"/>
              </a:rPr>
              <a:t>By giving more weight to observations that are </a:t>
            </a:r>
            <a:r>
              <a:rPr lang="en-US" sz="1000" b="1" dirty="0">
                <a:latin typeface="+mn-lt"/>
              </a:rPr>
              <a:t>not “</a:t>
            </a:r>
            <a:r>
              <a:rPr lang="en-US" sz="1000" dirty="0">
                <a:latin typeface="+mn-lt"/>
              </a:rPr>
              <a:t>doing what they are supposed to do”, it ensures that the estimated treatment effect is not confounded by differences in the observed covariates</a:t>
            </a:r>
          </a:p>
          <a:p>
            <a:pPr marL="171450" indent="-171450" algn="l">
              <a:buFont typeface="Wingdings" pitchFamily="2" charset="2"/>
              <a:buChar char="v"/>
            </a:pPr>
            <a:r>
              <a:rPr lang="en-US" sz="1000" dirty="0">
                <a:latin typeface="+mn-lt"/>
              </a:rPr>
              <a:t>The estimand for weighting is the </a:t>
            </a:r>
            <a:r>
              <a:rPr lang="en-US" sz="1000" b="1" dirty="0">
                <a:latin typeface="+mn-lt"/>
              </a:rPr>
              <a:t>ATE</a:t>
            </a:r>
          </a:p>
        </p:txBody>
      </p:sp>
      <p:pic>
        <p:nvPicPr>
          <p:cNvPr id="52" name="Picture 51" descr="A close-up of a graph&#10;&#10;Description automatically generated">
            <a:extLst>
              <a:ext uri="{FF2B5EF4-FFF2-40B4-BE49-F238E27FC236}">
                <a16:creationId xmlns:a16="http://schemas.microsoft.com/office/drawing/2014/main" id="{482C858E-F42E-4D5B-127F-EE12E7F64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4" y="4577728"/>
            <a:ext cx="3827345" cy="1913673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76C653FB-FBE7-0D89-C404-C83AB33FA075}"/>
              </a:ext>
            </a:extLst>
          </p:cNvPr>
          <p:cNvSpPr txBox="1"/>
          <p:nvPr/>
        </p:nvSpPr>
        <p:spPr>
          <a:xfrm>
            <a:off x="4703341" y="4670941"/>
            <a:ext cx="9320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% of women in parliament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B90C535-3ABA-383E-4F69-27EDDD3CD9BF}"/>
              </a:ext>
            </a:extLst>
          </p:cNvPr>
          <p:cNvSpPr txBox="1"/>
          <p:nvPr/>
        </p:nvSpPr>
        <p:spPr>
          <a:xfrm>
            <a:off x="6537268" y="4747885"/>
            <a:ext cx="13260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Trans Rights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C2BC6DB-E8AD-3613-7BBB-96827C6E5C7E}"/>
              </a:ext>
            </a:extLst>
          </p:cNvPr>
          <p:cNvCxnSpPr>
            <a:cxnSpLocks/>
          </p:cNvCxnSpPr>
          <p:nvPr/>
        </p:nvCxnSpPr>
        <p:spPr>
          <a:xfrm>
            <a:off x="6448347" y="4041236"/>
            <a:ext cx="414089" cy="643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630F9702-0CDC-9793-D01B-E1249A5B0F9F}"/>
              </a:ext>
            </a:extLst>
          </p:cNvPr>
          <p:cNvSpPr txBox="1"/>
          <p:nvPr/>
        </p:nvSpPr>
        <p:spPr>
          <a:xfrm>
            <a:off x="5600992" y="3490767"/>
            <a:ext cx="11777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GDP per capita, religiosity, regime type, &amp; year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B769D3F-2867-2274-DDEB-B43A5AB0EE1B}"/>
              </a:ext>
            </a:extLst>
          </p:cNvPr>
          <p:cNvSpPr txBox="1"/>
          <p:nvPr/>
        </p:nvSpPr>
        <p:spPr>
          <a:xfrm>
            <a:off x="5558974" y="5114441"/>
            <a:ext cx="9651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Figure 1</a:t>
            </a:r>
            <a:r>
              <a:rPr lang="en-US" sz="1000" i="1" dirty="0"/>
              <a:t>. DAG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995B08-058A-105F-6080-7EFA67DD3C01}"/>
              </a:ext>
            </a:extLst>
          </p:cNvPr>
          <p:cNvSpPr txBox="1"/>
          <p:nvPr/>
        </p:nvSpPr>
        <p:spPr>
          <a:xfrm>
            <a:off x="8561441" y="4875955"/>
            <a:ext cx="34467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000" dirty="0"/>
              <a:t>While countries with a higher representation of women in parliament tend to have stronger transgender protections, this association appears to be influenced more by factors related to other characteristics rather than a direct causal effect of women's representation in parliament on trans rights</a:t>
            </a:r>
          </a:p>
        </p:txBody>
      </p:sp>
      <p:pic>
        <p:nvPicPr>
          <p:cNvPr id="69" name="Picture 68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BC09C7A5-EA0F-1E89-46AE-1FC27C633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0226" y="1610344"/>
            <a:ext cx="2444038" cy="1745742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1CD31FEA-D5AB-60B7-9108-C961C4FC937D}"/>
              </a:ext>
            </a:extLst>
          </p:cNvPr>
          <p:cNvSpPr txBox="1"/>
          <p:nvPr/>
        </p:nvSpPr>
        <p:spPr>
          <a:xfrm>
            <a:off x="8561441" y="3518834"/>
            <a:ext cx="337465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000" dirty="0"/>
              <a:t>A naive comparison of means yielded an estimated treatment effect of 0.063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sz="1000" dirty="0"/>
              <a:t>After controlling for confounding, the ATE was .018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sz="1000" dirty="0"/>
              <a:t>The ATE suggests that for every increase in the percentage of women in national parliaments, there is a corresponding increase of 0.018 in protections for trans rights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C92E825-DDA9-794D-CD4A-14C1985A8831}"/>
              </a:ext>
            </a:extLst>
          </p:cNvPr>
          <p:cNvSpPr txBox="1"/>
          <p:nvPr/>
        </p:nvSpPr>
        <p:spPr>
          <a:xfrm>
            <a:off x="9541586" y="3347323"/>
            <a:ext cx="14213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/>
              <a:t>Figure 3. </a:t>
            </a:r>
            <a:r>
              <a:rPr lang="en-US" sz="1000" dirty="0"/>
              <a:t>Results plot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522D963-1C38-F089-6C7C-12D028249528}"/>
              </a:ext>
            </a:extLst>
          </p:cNvPr>
          <p:cNvSpPr txBox="1"/>
          <p:nvPr/>
        </p:nvSpPr>
        <p:spPr>
          <a:xfrm>
            <a:off x="971106" y="6491401"/>
            <a:ext cx="19801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/>
              <a:t>Figure 2. </a:t>
            </a:r>
            <a:r>
              <a:rPr lang="en-US" sz="1000" dirty="0"/>
              <a:t>Common Support plots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121678A-3666-0D9D-ADE1-CC1729EF2979}"/>
              </a:ext>
            </a:extLst>
          </p:cNvPr>
          <p:cNvSpPr txBox="1"/>
          <p:nvPr/>
        </p:nvSpPr>
        <p:spPr>
          <a:xfrm>
            <a:off x="9784953" y="5868350"/>
            <a:ext cx="927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+mj-lt"/>
              </a:rPr>
              <a:t>References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1440D2F-37DF-1102-D3A3-9D586B4AC2BE}"/>
              </a:ext>
            </a:extLst>
          </p:cNvPr>
          <p:cNvSpPr txBox="1"/>
          <p:nvPr/>
        </p:nvSpPr>
        <p:spPr>
          <a:xfrm>
            <a:off x="8547355" y="6054366"/>
            <a:ext cx="32620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000" dirty="0"/>
              <a:t>Williamson, M. (2023). A Global Analysis of Transgender Rights: Introducing the Trans Rights Indicator Project (TRIP). Perspectives on Politics, 1–20. </a:t>
            </a:r>
          </a:p>
        </p:txBody>
      </p:sp>
    </p:spTree>
    <p:extLst>
      <p:ext uri="{BB962C8B-B14F-4D97-AF65-F5344CB8AC3E}">
        <p14:creationId xmlns:p14="http://schemas.microsoft.com/office/powerpoint/2010/main" val="2361882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11212</TotalTime>
  <Words>461</Words>
  <Application>Microsoft Macintosh PowerPoint</Application>
  <PresentationFormat>Widescreen</PresentationFormat>
  <Paragraphs>55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Huizenga, Emma</dc:creator>
  <cp:lastModifiedBy>Huizenga, Emma</cp:lastModifiedBy>
  <cp:revision>1</cp:revision>
  <dcterms:created xsi:type="dcterms:W3CDTF">2024-04-14T20:45:41Z</dcterms:created>
  <dcterms:modified xsi:type="dcterms:W3CDTF">2024-04-22T15:38:18Z</dcterms:modified>
</cp:coreProperties>
</file>